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509fea725c461e" /><Relationship Type="http://schemas.openxmlformats.org/officeDocument/2006/relationships/extended-properties" Target="/docProps/app.xml" Id="R6bea88d2f8b04990" /><Relationship Type="http://schemas.openxmlformats.org/officeDocument/2006/relationships/officeDocument" Target="/ppt/presentation.xml" Id="R0015ba52008943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164b72b7a9404f"/>
  </p:sldMasterIdLst>
  <p:notesMasterIdLst>
    <p:notesMasterId xmlns:r="http://schemas.openxmlformats.org/officeDocument/2006/relationships" r:id="R7a722b2784704429"/>
  </p:notesMasterIdLst>
  <p:sldIdLst>
    <p:sldId xmlns:r="http://schemas.openxmlformats.org/officeDocument/2006/relationships" id="256" r:id="R38471d5bdd714227"/>
    <p:sldId xmlns:r="http://schemas.openxmlformats.org/officeDocument/2006/relationships" id="257" r:id="Rd453f425dd504ab7"/>
    <p:sldId xmlns:r="http://schemas.openxmlformats.org/officeDocument/2006/relationships" id="258" r:id="Ra2a3297a8067415c"/>
    <p:sldId xmlns:r="http://schemas.openxmlformats.org/officeDocument/2006/relationships" id="259" r:id="Rf816075497094b9c"/>
    <p:sldId xmlns:r="http://schemas.openxmlformats.org/officeDocument/2006/relationships" id="260" r:id="R9befac4fda65454e"/>
    <p:sldId xmlns:r="http://schemas.openxmlformats.org/officeDocument/2006/relationships" id="261" r:id="Rd44799a3430a4825"/>
    <p:sldId xmlns:r="http://schemas.openxmlformats.org/officeDocument/2006/relationships" id="262" r:id="Re46a5124a4974a0a"/>
    <p:sldId xmlns:r="http://schemas.openxmlformats.org/officeDocument/2006/relationships" id="263" r:id="R52e3f8496a154c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e75d2d72de4b4f" /><Relationship Type="http://schemas.openxmlformats.org/officeDocument/2006/relationships/slideMaster" Target="/ppt/slideMasters/slideMaster1.xml" Id="Rc0164b72b7a9404f" /><Relationship Type="http://schemas.openxmlformats.org/officeDocument/2006/relationships/notesMaster" Target="/ppt/notesMasters/notesMaster1.xml" Id="R7a722b2784704429" /><Relationship Type="http://schemas.openxmlformats.org/officeDocument/2006/relationships/presProps" Target="/ppt/presProps.xml" Id="R77020e080ac04e20" /><Relationship Type="http://schemas.openxmlformats.org/officeDocument/2006/relationships/tableStyles" Target="/ppt/tableStyles.xml" Id="R46b48b85a54d4952" /><Relationship Type="http://schemas.openxmlformats.org/officeDocument/2006/relationships/slide" Target="/ppt/slides/slide1.xml" Id="R38471d5bdd714227" /><Relationship Type="http://schemas.openxmlformats.org/officeDocument/2006/relationships/slide" Target="/ppt/slides/slide2.xml" Id="Rd453f425dd504ab7" /><Relationship Type="http://schemas.openxmlformats.org/officeDocument/2006/relationships/slide" Target="/ppt/slides/slide3.xml" Id="Ra2a3297a8067415c" /><Relationship Type="http://schemas.openxmlformats.org/officeDocument/2006/relationships/slide" Target="/ppt/slides/slide4.xml" Id="Rf816075497094b9c" /><Relationship Type="http://schemas.openxmlformats.org/officeDocument/2006/relationships/slide" Target="/ppt/slides/slide5.xml" Id="R9befac4fda65454e" /><Relationship Type="http://schemas.openxmlformats.org/officeDocument/2006/relationships/slide" Target="/ppt/slides/slide6.xml" Id="Rd44799a3430a4825" /><Relationship Type="http://schemas.openxmlformats.org/officeDocument/2006/relationships/slide" Target="/ppt/slides/slide7.xml" Id="Re46a5124a4974a0a" /><Relationship Type="http://schemas.openxmlformats.org/officeDocument/2006/relationships/slide" Target="/ppt/slides/slide8.xml" Id="R52e3f8496a154c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a89c0aa36e43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435ae23e14dae" /><Relationship Type="http://schemas.openxmlformats.org/officeDocument/2006/relationships/notesMaster" Target="/ppt/notesMasters/notesMaster1.xml" Id="R7c97a7fc410d48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bb2ccd3d1343da" /><Relationship Type="http://schemas.openxmlformats.org/officeDocument/2006/relationships/notesMaster" Target="/ppt/notesMasters/notesMaster1.xml" Id="R266d3bdc19bd4a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6f673dd51045de" /><Relationship Type="http://schemas.openxmlformats.org/officeDocument/2006/relationships/notesMaster" Target="/ppt/notesMasters/notesMaster1.xml" Id="R5d53e6f3ebf345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c23e1d83564077" /><Relationship Type="http://schemas.openxmlformats.org/officeDocument/2006/relationships/notesMaster" Target="/ppt/notesMasters/notesMaster1.xml" Id="Rb34d1e0e6cab48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a46cf9d3414446" /><Relationship Type="http://schemas.openxmlformats.org/officeDocument/2006/relationships/notesMaster" Target="/ppt/notesMasters/notesMaster1.xml" Id="R2cfa95ede4444e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efc39cebe94eee" /><Relationship Type="http://schemas.openxmlformats.org/officeDocument/2006/relationships/notesMaster" Target="/ppt/notesMasters/notesMaster1.xml" Id="R18a984f146be42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a7a486e0f3424d" /><Relationship Type="http://schemas.openxmlformats.org/officeDocument/2006/relationships/notesMaster" Target="/ppt/notesMasters/notesMaster1.xml" Id="R8165cc02f38147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9767f8826a405c" /><Relationship Type="http://schemas.openxmlformats.org/officeDocument/2006/relationships/notesMaster" Target="/ppt/notesMasters/notesMaster1.xml" Id="R0a51c10949a849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5cb97339b42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fe689def15414f" /><Relationship Type="http://schemas.openxmlformats.org/officeDocument/2006/relationships/slideLayout" Target="/ppt/slideLayouts/slideLayout1.xml" Id="R167e6a8da68749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7e6a8da68749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98c2b6eb64f37" /><Relationship Type="http://schemas.openxmlformats.org/officeDocument/2006/relationships/image" Target="/ppt/media/image.png" Id="R0a2015cd07ab4654" /><Relationship Type="http://schemas.openxmlformats.org/officeDocument/2006/relationships/notesSlide" Target="/ppt/notesSlides/notesSlide1.xml" Id="R1ef7876e4c0d41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c9f6eb8114640" /><Relationship Type="http://schemas.openxmlformats.org/officeDocument/2006/relationships/notesSlide" Target="/ppt/notesSlides/notesSlide2.xml" Id="Rcf9577bacfd949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52f9ac2a445ad" /><Relationship Type="http://schemas.openxmlformats.org/officeDocument/2006/relationships/notesSlide" Target="/ppt/notesSlides/notesSlide3.xml" Id="Rbf93e345d48842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58bb8d1e24231" /><Relationship Type="http://schemas.openxmlformats.org/officeDocument/2006/relationships/notesSlide" Target="/ppt/notesSlides/notesSlide4.xml" Id="R70dae851ea424f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3e151fbb04530" /><Relationship Type="http://schemas.openxmlformats.org/officeDocument/2006/relationships/notesSlide" Target="/ppt/notesSlides/notesSlide5.xml" Id="R8ef790efe42040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83ebfc62d4546" /><Relationship Type="http://schemas.openxmlformats.org/officeDocument/2006/relationships/notesSlide" Target="/ppt/notesSlides/notesSlide6.xml" Id="Ra22f5e47f6d740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89824eb844105" /><Relationship Type="http://schemas.openxmlformats.org/officeDocument/2006/relationships/notesSlide" Target="/ppt/notesSlides/notesSlide7.xml" Id="R6430c9e9977d4c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0a3c7872e4488" /><Relationship Type="http://schemas.openxmlformats.org/officeDocument/2006/relationships/notesSlide" Target="/ppt/notesSlides/notesSlide8.xml" Id="R0f010d224b534c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015cd07ab4654"/>
          <a:srcRect xmlns:a="http://schemas.openxmlformats.org/drawingml/2006/main" l="3610" t="0" r="36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20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4A164B-6C8E-4CC4-9B0E-FE97823C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35A"/>
                </a:solidFill>
              </a:defRPr>
            </a:pPr>
            <a:r>
              <a:rPr sz="1050" b="1">
                <a:solidFill>
                  <a:srgbClr val="B8F35A"/>
                </a:solidFill>
              </a:rPr>
              <a:t>THE IT OPERATIONS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B8EB0-64D9-4EDA-A413-4154020E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Support time disappears before remediation begins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1E2DC-2F54-4E56-8319-886D0E05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AF8CE-FD21-438D-BB18-9B20BAE2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2BE"/>
                </a:solidFill>
              </a:defRPr>
            </a:pPr>
            <a:r>
              <a:rPr sz="1050" b="1">
                <a:solidFill>
                  <a:srgbClr val="A7B2B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A6C50-4577-4513-BE66-87ECDB88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D9E8"/>
                </a:solidFill>
              </a:defRPr>
            </a:pPr>
            <a:r>
              <a:rPr sz="1800" b="1">
                <a:solidFill>
                  <a:srgbClr val="27D9E8"/>
                </a:solidFill>
              </a:rPr>
              <a:t>The delay is often evidence assembly—not a lack of expertise.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F520F-C984-4C8D-916C-8D8196D6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B1722"/>
          </a:solidFill>
          <a:ln xmlns:a="http://schemas.openxmlformats.org/drawingml/2006/main" w="9525">
            <a:solidFill>
              <a:srgbClr val="2235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F3C2B-7154-4F25-9AF9-360F4963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D9E8"/>
                </a:solidFill>
              </a:defRPr>
            </a:pPr>
            <a:r>
              <a:rPr sz="2100" b="1">
                <a:solidFill>
                  <a:srgbClr val="27D9E8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262FC-8BEB-456F-A2A7-A8BF200E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Gather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9C185-1CFF-4602-82D3-66ECC9BF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2BE"/>
                </a:solidFill>
              </a:defRPr>
            </a:pPr>
            <a:r>
              <a:rPr sz="1275" b="0">
                <a:solidFill>
                  <a:srgbClr val="A7B2BE"/>
                </a:solidFill>
              </a:rPr>
              <a:t>Endpoint, identity, VPN and service-health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D345D-0D7F-416F-A19D-DA3F5B73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528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EE6E9-8779-448B-AB6B-69A422D3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861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A4060-1139-4E28-B9C8-C0539C56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B1722"/>
          </a:solidFill>
          <a:ln xmlns:a="http://schemas.openxmlformats.org/drawingml/2006/main" w="9525">
            <a:solidFill>
              <a:srgbClr val="2235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A4B6A-DEB2-42A7-8410-E4B2E0F5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D9E8"/>
                </a:solidFill>
              </a:defRPr>
            </a:pPr>
            <a:r>
              <a:rPr sz="2100" b="1">
                <a:solidFill>
                  <a:srgbClr val="27D9E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CE8E7-D097-45FD-A2A9-724BD343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CEB18-D3F7-4267-99D5-C7E34EE0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766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2BE"/>
                </a:solidFill>
              </a:defRPr>
            </a:pPr>
            <a:r>
              <a:rPr sz="1275" b="0">
                <a:solidFill>
                  <a:srgbClr val="A7B2BE"/>
                </a:solidFill>
              </a:rPr>
              <a:t>Approved runbooks and known remediation procedures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8A2C7-B3DE-4E68-82E3-626F9BBE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528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764C1-E995-4097-87EF-B47E23E7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861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2A72C-3AF3-4F2F-9DD6-F8730715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B1722"/>
          </a:solidFill>
          <a:ln xmlns:a="http://schemas.openxmlformats.org/drawingml/2006/main" w="9525">
            <a:solidFill>
              <a:srgbClr val="2235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73B9E-85F2-4A8B-9814-5BB4C1EB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D9E8"/>
                </a:solidFill>
              </a:defRPr>
            </a:pPr>
            <a:r>
              <a:rPr sz="2100" b="1">
                <a:solidFill>
                  <a:srgbClr val="27D9E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8B172-9449-4847-BAAF-29B9E6DC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81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Correlate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0BC03-1192-46F8-8BB1-1994418F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2BE"/>
                </a:solidFill>
              </a:defRPr>
            </a:pPr>
            <a:r>
              <a:rPr sz="1275" b="0">
                <a:solidFill>
                  <a:srgbClr val="A7B2BE"/>
                </a:solidFill>
              </a:rPr>
              <a:t>Symptoms, user context and infrastructure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FB8E1-90E3-49D7-9BC1-5D6D38D3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528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2A1D7-0AA9-4373-832D-8A59DD52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5C2F8F-A4D1-4A20-945B-0D813C76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00B"/>
          </a:solidFill>
          <a:ln xmlns:a="http://schemas.openxmlformats.org/drawingml/2006/main" w="9525">
            <a:solidFill>
              <a:srgbClr val="76B9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FBFF0-3A1D-4A1F-818F-FCCCC549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90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F35A"/>
                </a:solidFill>
              </a:defRPr>
            </a:pPr>
            <a:r>
              <a:rPr sz="2100" b="1">
                <a:solidFill>
                  <a:srgbClr val="B8F35A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F0FE4C-ADB9-49DD-9184-238543F8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81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Authorize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5EA157-453C-4E5C-AF96-8ADCAF1F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76650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2BE"/>
                </a:solidFill>
              </a:defRPr>
            </a:pPr>
            <a:r>
              <a:rPr sz="1275" b="0">
                <a:solidFill>
                  <a:srgbClr val="A7B2BE"/>
                </a:solidFill>
              </a:rPr>
              <a:t>Separate bounded actions from privileged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CBB2B4-EB68-476B-B407-40776CC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OpsGuard automates this control loop while preserving human authority over consequential actions.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002377-504E-4AC8-B70D-FF1F576D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EDFA66-DB92-4254-B0E4-F29CD7CA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2BE"/>
                </a:solidFill>
              </a:defRPr>
            </a:pPr>
            <a:r>
              <a:rPr sz="900" b="1">
                <a:solidFill>
                  <a:srgbClr val="A7B2BE"/>
                </a:solidFill>
              </a:rPr>
              <a:t>NVIDIA OpsGuard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92589F-FC89-4398-9519-1C24F5D1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2BE"/>
                </a:solidFill>
              </a:defRPr>
            </a:pPr>
            <a:r>
              <a:rPr sz="900" b="0">
                <a:solidFill>
                  <a:srgbClr val="A7B2BE"/>
                </a:solidFill>
              </a:rPr>
              <a:t>Steve Montgomerie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020875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81E1D8-DDC1-47FF-8196-EA7F4C03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35A"/>
                </a:solidFill>
              </a:defRPr>
            </a:pPr>
            <a:r>
              <a:rPr sz="1050" b="1">
                <a:solidFill>
                  <a:srgbClr val="B8F35A"/>
                </a:solidFill>
              </a:rPr>
              <a:t>WHY CHATBOTS ARE NOT ENOUGH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A0B0C-ECF1-4F6C-8E6B-69333B1A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Conversation alone does not solve the control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D9248-2118-45F9-86C9-AC7441BE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A459A-F1D6-434B-91C3-9E74CFE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2BE"/>
                </a:solidFill>
              </a:defRPr>
            </a:pPr>
            <a:r>
              <a:rPr sz="1050" b="1">
                <a:solidFill>
                  <a:srgbClr val="A7B2BE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29BEC-E397-4A94-B6AD-8BE017FD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9530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A131C"/>
          </a:solidFill>
          <a:ln xmlns:a="http://schemas.openxmlformats.org/drawingml/2006/main" w="9525">
            <a:solidFill>
              <a:srgbClr val="2235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8FA7-0009-47B0-A8B3-E2619DC0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B2BE"/>
                </a:solidFill>
              </a:defRPr>
            </a:pPr>
            <a:r>
              <a:rPr sz="2100" b="1">
                <a:solidFill>
                  <a:srgbClr val="A7B2BE"/>
                </a:solidFill>
              </a:rPr>
              <a:t>Chatbot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61A00-48F6-46B3-B568-ACC1EAE0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Explains what might be wrong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322B0-07B0-4784-9D42-4E9BFDB1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B2BE"/>
          </a:solidFill>
          <a:ln xmlns:a="http://schemas.openxmlformats.org/drawingml/2006/main" w="0">
            <a:solidFill>
              <a:srgbClr val="A7B2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0ECB0-F8B7-417F-847D-4AABEC9C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Response-first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CA56F-5330-44D9-8447-AB370CB6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Produces guidance but does not own the investigation loop.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B863A-75CD-40D1-B17B-73C9F0AC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B2BE"/>
          </a:solidFill>
          <a:ln xmlns:a="http://schemas.openxmlformats.org/drawingml/2006/main" w="0">
            <a:solidFill>
              <a:srgbClr val="A7B2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11815-80C3-44FE-B136-DE0EE8EA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Permission ambiguity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63770-4729-4F4E-A6C1-12661D5F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Natural-language confidence can be mistaken for authorization.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9D7BD-1236-457A-B005-7BE3155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47850"/>
            <a:ext cx="55626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C1C13"/>
          </a:solidFill>
          <a:ln xmlns:a="http://schemas.openxmlformats.org/drawingml/2006/main" w="9525">
            <a:solidFill>
              <a:srgbClr val="76B9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E8002-19D8-43BF-9406-F541503A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F35A"/>
                </a:solidFill>
              </a:defRPr>
            </a:pPr>
            <a:r>
              <a:rPr sz="2100" b="1">
                <a:solidFill>
                  <a:srgbClr val="B8F35A"/>
                </a:solidFill>
              </a:rPr>
              <a:t>Governed operations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F158D-8F4F-4F08-A396-2F2F230C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Investigates, recommends and acts within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69025-F250-4F27-8A63-78CE4C98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44D89-842F-4FF7-9B25-61BF39AA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861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Evidence-first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7CEDD-17D0-47CE-A63E-6F1A780C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909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Uses approved collectors and minimum authorized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DFFAC6-CA6F-4589-BBD6-4402DBA6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4AD4E-2B15-49D7-9E17-7FCE24D4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434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Policy-enforced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A20B9-3C08-4363-AB01-46E1B7AE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482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Low-risk actions are bounded; privileged actions wait for approval.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63A2F-7995-4B8A-8FDC-62CB326C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10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The model is not the authorization layer.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031FA6-2A73-4B55-AEC7-FFCABBB4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E2639F-F92F-4767-AA76-FAAE2E4F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2BE"/>
                </a:solidFill>
              </a:defRPr>
            </a:pPr>
            <a:r>
              <a:rPr sz="900" b="1">
                <a:solidFill>
                  <a:srgbClr val="A7B2BE"/>
                </a:solidFill>
              </a:rPr>
              <a:t>NVIDIA OpsGuard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C119A2-16AD-48B4-AB50-C53C451E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2BE"/>
                </a:solidFill>
              </a:defRPr>
            </a:pPr>
            <a:r>
              <a:rPr sz="900" b="0">
                <a:solidFill>
                  <a:srgbClr val="A7B2BE"/>
                </a:solidFill>
              </a:rPr>
              <a:t>Steve Montgomerie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96695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9BBEC-19E9-4FA7-ABBB-D90C6948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35A"/>
                </a:solidFill>
              </a:defRPr>
            </a:pPr>
            <a:r>
              <a:rPr sz="1050" b="1">
                <a:solidFill>
                  <a:srgbClr val="B8F35A"/>
                </a:solidFill>
              </a:rPr>
              <a:t>VALUE PROPOSITION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BE237-9CC1-4F31-BFB9-9C26D205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OpsGuard accelerates triage without widening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6EC91-5F47-48D3-9B63-D1058C11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650C2-76A4-4D8F-BDED-A21A95D9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2BE"/>
                </a:solidFill>
              </a:defRPr>
            </a:pPr>
            <a:r>
              <a:rPr sz="1050" b="1">
                <a:solidFill>
                  <a:srgbClr val="A7B2BE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2F11C-4A4B-4DB3-B4C0-B2FF0692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8F35A"/>
                </a:solidFill>
              </a:defRPr>
            </a:pPr>
            <a:r>
              <a:rPr sz="3150" b="1">
                <a:solidFill>
                  <a:srgbClr val="B8F35A"/>
                </a:solidFill>
              </a:rPr>
              <a:t>FAST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0ADE7-4EBA-48C2-A25E-A171D05A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Enough to reduce mean time to resolution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96480-11E6-4F32-A3F3-D52D0A32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7D9E8"/>
                </a:solidFill>
              </a:defRPr>
            </a:pPr>
            <a:r>
              <a:rPr sz="3150" b="1">
                <a:solidFill>
                  <a:srgbClr val="27D9E8"/>
                </a:solidFill>
              </a:rPr>
              <a:t>CONTROLLED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C90B5-8D1E-4A83-A6B3-6D95DF5C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Enough to protect production infrastructure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DAA33-C705-4D2E-A2D0-1228908A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3124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A"/>
                </a:solidFill>
              </a:defRPr>
            </a:pPr>
            <a:r>
              <a:rPr sz="3150" b="1">
                <a:solidFill>
                  <a:srgbClr val="F5F7FA"/>
                </a:solidFill>
              </a:rPr>
              <a:t>TRACEABLE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9CC5C-B8C1-45D6-95DD-A738D1E3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Enough to defend every consequential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0A04C-FF88-42DE-A9DA-B51B0096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05964-B898-4CD2-9971-2B90FF22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EC2A2-2FA6-4BEE-8306-6DFA8895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24×7 first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1634F-9F27-4394-9A49-06F43700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9E8"/>
          </a:solidFill>
          <a:ln xmlns:a="http://schemas.openxmlformats.org/drawingml/2006/main" w="0">
            <a:solidFill>
              <a:srgbClr val="27D9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B62A0-6937-4263-9AA4-DC271685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624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Repeatable Level 1 triage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A1CA5-6D99-4406-92E9-BA3DDA50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4F2A5-A101-47F0-8F64-250A5A78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624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Approved knowledge retrieval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91749-0EDE-4EE2-B8BD-8C6072FE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9E8"/>
          </a:solidFill>
          <a:ln xmlns:a="http://schemas.openxmlformats.org/drawingml/2006/main" w="0">
            <a:solidFill>
              <a:srgbClr val="27D9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4C4C3-EE5E-4B5E-B2AA-EDDE4618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624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Human control of privilege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5E4BE-F4E5-4704-9076-A8301D95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29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F36C8-43F7-45A1-AFEB-37C53B59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624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Complete decision trail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A2B6D-028B-48A2-8A0A-F26F1F82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7B2BE"/>
                </a:solidFill>
              </a:defRPr>
            </a:pPr>
            <a:r>
              <a:rPr sz="1800" b="0">
                <a:solidFill>
                  <a:srgbClr val="A7B2BE"/>
                </a:solidFill>
              </a:rPr>
              <a:t>A single operating principle aligns productivity, security and accountability.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6C578-6F74-4145-AC53-3621AF56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2649C-FB3B-45F9-B756-42E4218A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2BE"/>
                </a:solidFill>
              </a:defRPr>
            </a:pPr>
            <a:r>
              <a:rPr sz="900" b="1">
                <a:solidFill>
                  <a:srgbClr val="A7B2BE"/>
                </a:solidFill>
              </a:rPr>
              <a:t>NVIDIA OpsGuard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004EF-3D8D-4A95-9B1C-C684A7F8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2BE"/>
                </a:solidFill>
              </a:defRPr>
            </a:pPr>
            <a:r>
              <a:rPr sz="900" b="0">
                <a:solidFill>
                  <a:srgbClr val="A7B2BE"/>
                </a:solidFill>
              </a:rPr>
              <a:t>Steve Montgomerie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59625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4D1388-A8BB-49D4-BF0B-8207BACC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35A"/>
                </a:solidFill>
              </a:defRPr>
            </a:pPr>
            <a:r>
              <a:rPr sz="1050" b="1">
                <a:solidFill>
                  <a:srgbClr val="B8F35A"/>
                </a:solidFill>
              </a:rPr>
              <a:t>ANCHOR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63C83-A54E-48B5-BA3A-2DF0570B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One VPN ticket exercises the full control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F56BB-957C-4580-9697-7C2B1737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EA06C-D546-4EB9-8433-BBFE5DC9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2BE"/>
                </a:solidFill>
              </a:defRPr>
            </a:pPr>
            <a:r>
              <a:rPr sz="1050" b="1">
                <a:solidFill>
                  <a:srgbClr val="A7B2BE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F0C00-DF47-4FCA-90E4-567160E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143250" cy="4000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C1C13"/>
          </a:solidFill>
          <a:ln xmlns:a="http://schemas.openxmlformats.org/drawingml/2006/main" w="9525">
            <a:solidFill>
              <a:srgbClr val="76B9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0D578-0B99-4385-92FC-A1BF2D0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35A"/>
                </a:solidFill>
              </a:defRPr>
            </a:pPr>
            <a:r>
              <a:rPr sz="1050" b="1">
                <a:solidFill>
                  <a:srgbClr val="B8F35A"/>
                </a:solidFill>
              </a:rPr>
              <a:t>INCIDENT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4945B-7CDC-420F-A2BD-FBCC2DE9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428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7FA"/>
                </a:solidFill>
              </a:defRPr>
            </a:pPr>
            <a:r>
              <a:rPr sz="2250" b="1">
                <a:solidFill>
                  <a:srgbClr val="F5F7FA"/>
                </a:solidFill>
              </a:rPr>
              <a:t>Corporate VPN will not connect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CE8C9-85D6-482C-8572-214B1748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2BE"/>
                </a:solidFill>
              </a:defRPr>
            </a:pPr>
            <a:r>
              <a:rPr sz="1275" b="0">
                <a:solidFill>
                  <a:srgbClr val="A7B2BE"/>
                </a:solidFill>
              </a:rPr>
              <a:t>Employee request</a:t>
            </a:r>
          </a:p>
          <a:p xmlns:a="http://schemas.openxmlformats.org/drawingml/2006/main">
            <a:pPr algn="l">
              <a:defRPr sz="1275" b="0">
                <a:solidFill>
                  <a:srgbClr val="A7B2BE"/>
                </a:solidFill>
              </a:defRPr>
            </a:pPr>
            <a:r>
              <a:rPr sz="1275" b="0">
                <a:solidFill>
                  <a:srgbClr val="A7B2BE"/>
                </a:solidFill>
              </a:rPr>
              <a:t>Synthetic endpoint + identity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D0928-B91C-4402-BA09-0922F1AF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D9E8"/>
                </a:solidFill>
              </a:defRPr>
            </a:pPr>
            <a:r>
              <a:rPr sz="1500" b="1">
                <a:solidFill>
                  <a:srgbClr val="27D9E8"/>
                </a:solidFill>
              </a:rPr>
              <a:t>Goal: restore access safely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732F3-8B63-4C55-9DB1-41F7BF28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19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9E8"/>
          </a:solidFill>
          <a:ln xmlns:a="http://schemas.openxmlformats.org/drawingml/2006/main" w="0">
            <a:solidFill>
              <a:srgbClr val="27D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FBAF9-0EBD-4101-8014-E817A2C4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57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B12"/>
                </a:solidFill>
              </a:defRPr>
            </a:pPr>
            <a:r>
              <a:rPr sz="1200" b="1">
                <a:solidFill>
                  <a:srgbClr val="050B12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39AFB-5CC6-4A96-BEE4-CF2BA48A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71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6DDEA-7982-4DCD-A1FC-031361DF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33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Request and user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51666-3CF7-4EFE-843C-511B293A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19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9E8"/>
          </a:solidFill>
          <a:ln xmlns:a="http://schemas.openxmlformats.org/drawingml/2006/main" w="0">
            <a:solidFill>
              <a:srgbClr val="27D9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C69C6-433D-4CF2-A18E-D9D312BD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573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B12"/>
                </a:solidFill>
              </a:defRPr>
            </a:pPr>
            <a:r>
              <a:rPr sz="1200" b="1">
                <a:solidFill>
                  <a:srgbClr val="050B12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99B25-4399-4257-BA9D-E03373E3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Collect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D4AE1-C7DF-4735-BB7D-EE70C574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Endpoint, identity, VPN and health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A33FD-5913-4B05-8F3A-58323CF0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9E8"/>
          </a:solidFill>
          <a:ln xmlns:a="http://schemas.openxmlformats.org/drawingml/2006/main" w="0">
            <a:solidFill>
              <a:srgbClr val="27D9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1051C-74BB-4A1D-A4AE-F0BC743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718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B12"/>
                </a:solidFill>
              </a:defRPr>
            </a:pPr>
            <a:r>
              <a:rPr sz="1200" b="1">
                <a:solidFill>
                  <a:srgbClr val="050B12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AB994-7A7D-4BDF-8475-0D0FA164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86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Retrieve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DC866-F97A-4A1A-9FF1-6E35342C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48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Approved runbook material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866E2-99CC-47DC-98E9-86C406C1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33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904EA-5EA4-44CC-801A-558791B4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718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B12"/>
                </a:solidFill>
              </a:defRPr>
            </a:pPr>
            <a:r>
              <a:rPr sz="1200" b="1">
                <a:solidFill>
                  <a:srgbClr val="050B12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6E88A-65ED-4DEF-95B9-820D0547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86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Reason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734A95-6E72-40FB-9F1C-3453976A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48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Nemotron proposes root cause and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F92A2F-3244-4C2E-9DAF-525F3D38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64829C-7391-4FE3-ABE4-BE376D71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86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B12"/>
                </a:solidFill>
              </a:defRPr>
            </a:pPr>
            <a:r>
              <a:rPr sz="1200" b="1">
                <a:solidFill>
                  <a:srgbClr val="050B12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69A452-8E89-46EA-8D23-7DBB8045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00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0D621E-6C80-48B7-BBD3-5D40AAB5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62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Execute bounded action or request approval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B66B84-8853-442B-8E80-AEFD3423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481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62E7E-42D8-4B42-B754-C2DA91EC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86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B12"/>
                </a:solidFill>
              </a:defRPr>
            </a:pPr>
            <a:r>
              <a:rPr sz="1200" b="1">
                <a:solidFill>
                  <a:srgbClr val="050B12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3768BC-9A8B-41DD-9866-735B4493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Record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AA8BD8-D1E8-468F-965B-139EF0C8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Evidence, decision and action trail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BEA034-38C4-4C69-BE09-B107B610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15E166-8A1F-4E43-BC6B-94D7789D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2BE"/>
                </a:solidFill>
              </a:defRPr>
            </a:pPr>
            <a:r>
              <a:rPr sz="900" b="1">
                <a:solidFill>
                  <a:srgbClr val="A7B2BE"/>
                </a:solidFill>
              </a:rPr>
              <a:t>NVIDIA OpsGuard AI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1C9F44-5431-4C07-8887-847A7714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2BE"/>
                </a:solidFill>
              </a:defRPr>
            </a:pPr>
            <a:r>
              <a:rPr sz="900" b="0">
                <a:solidFill>
                  <a:srgbClr val="A7B2BE"/>
                </a:solidFill>
              </a:rPr>
              <a:t>Steve Montgomerie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08399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8FC9CD-2C99-46F3-884A-DE7DA788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35A"/>
                </a:solidFill>
              </a:defRPr>
            </a:pPr>
            <a:r>
              <a:rPr sz="1050" b="1">
                <a:solidFill>
                  <a:srgbClr val="B8F35A"/>
                </a:solidFill>
              </a:rPr>
              <a:t>REFERENCE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49F92-8D15-4422-9427-FBE0265F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The model reasons; deterministic policy authorizes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D7CA8-B5A9-4FC6-9DE2-D1349DD7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70C29-4148-4E2A-AAEF-51905131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2BE"/>
                </a:solidFill>
              </a:defRPr>
            </a:pPr>
            <a:r>
              <a:rPr sz="1050" b="1">
                <a:solidFill>
                  <a:srgbClr val="A7B2BE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6D979-ECB6-4727-86E0-4F4CBD44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717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EB3D7-8E5C-4922-907B-01401F15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05075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35F99-CF5D-4172-929A-C62462D4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8FC49-C1B3-4320-BF77-5A76D9DB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05075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26A46-2EBD-4534-8EA0-5B38F2DE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EFC53-8A03-42AF-9BD4-FC83A096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05075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63229-0501-4E4E-8BDA-E177E22D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CF128-B1AC-4E8A-9E0C-14CBA790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05075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2C6CF-08F0-442E-A656-6ED4FB64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480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7AC18-8F62-4726-A7CF-C855EB2B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7EE5A-75B8-4582-9B4E-FD8F2B49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5EE5B-15BC-4E44-8DB5-E1183998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76800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43D66-DD64-45D1-8662-D05C4605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067300"/>
            <a:ext cx="622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85CC7-27B0-4668-B6E0-7739C23C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0673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2EF0E-12C7-4A5B-95E0-924F91A4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67300"/>
            <a:ext cx="38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AC1820-5D60-4C80-87A1-4BC41CD1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676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722"/>
          </a:solidFill>
          <a:ln xmlns:a="http://schemas.openxmlformats.org/drawingml/2006/main" w="9525">
            <a:solidFill>
              <a:srgbClr val="27D9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FCC29-ACD0-4680-BB3E-ED1F02DA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Ticket + identity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5C75B-0F63-4553-B646-58F8935A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33600"/>
            <a:ext cx="1676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722"/>
          </a:solidFill>
          <a:ln xmlns:a="http://schemas.openxmlformats.org/drawingml/2006/main" w="9525">
            <a:solidFill>
              <a:srgbClr val="27D9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C204DE-B2B6-4510-92BF-FF131FAB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9077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Authorized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785ED-E541-4077-9E3F-DF74CC8C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1676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722"/>
          </a:solidFill>
          <a:ln xmlns:a="http://schemas.openxmlformats.org/drawingml/2006/main" w="9525">
            <a:solidFill>
              <a:srgbClr val="27D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94F5AC-C091-4AA2-8B6F-811A6929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9077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Minimum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40C7FD-7025-41E6-93CE-30130E04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1676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722"/>
          </a:solidFill>
          <a:ln xmlns:a="http://schemas.openxmlformats.org/drawingml/2006/main" w="9525">
            <a:solidFill>
              <a:srgbClr val="76B9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F527CB-ECDC-46FA-921F-691769BD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9077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NVIDIA Nemotron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2D7B00-A1BD-46E3-BAFF-FB3C543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1676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722"/>
          </a:solidFill>
          <a:ln xmlns:a="http://schemas.openxmlformats.org/drawingml/2006/main" w="9525">
            <a:solidFill>
              <a:srgbClr val="76B9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0DEBAE-DC80-4F3D-8C51-9C40959E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90775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Proposed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F852AD-5629-454F-815F-C9D9B282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10000"/>
            <a:ext cx="4152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00B"/>
          </a:solidFill>
          <a:ln xmlns:a="http://schemas.openxmlformats.org/drawingml/2006/main" w="9525">
            <a:solidFill>
              <a:srgbClr val="76B9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D768B0-0515-4C99-82FF-45DD7AB5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005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F35A"/>
                </a:solidFill>
              </a:defRPr>
            </a:pPr>
            <a:r>
              <a:rPr sz="1650" b="1">
                <a:solidFill>
                  <a:srgbClr val="B8F35A"/>
                </a:solidFill>
              </a:rPr>
              <a:t>POLICY + RISK ENGINE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0709A6-D52D-47E6-AEF3-43EAED70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005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7FA"/>
                </a:solidFill>
              </a:defRPr>
            </a:pPr>
            <a:r>
              <a:rPr sz="1275" b="1">
                <a:solidFill>
                  <a:srgbClr val="F5F7FA"/>
                </a:solidFill>
              </a:rPr>
              <a:t>Permissions cannot be expanded by model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366047-17A6-4104-8A8B-8F72F0AE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3524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722"/>
          </a:solidFill>
          <a:ln xmlns:a="http://schemas.openxmlformats.org/drawingml/2006/main" w="9525">
            <a:solidFill>
              <a:srgbClr val="27D9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C491D9-457C-495F-BD99-AD1B3C99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29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LOW RISK  →  bounded execution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AF368B-372D-422A-8B59-71DB9A70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19700"/>
            <a:ext cx="3524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1510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A82C30-0C0F-4454-9EFE-9C1DE9A3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29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A"/>
                </a:solidFill>
              </a:defRPr>
            </a:pPr>
            <a:r>
              <a:rPr sz="1350" b="1">
                <a:solidFill>
                  <a:srgbClr val="F5F7FA"/>
                </a:solidFill>
              </a:rPr>
              <a:t>HIGH RISK  →  human approval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2FCC19-1007-4F21-A1C8-C6E52C8E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567387-3AA8-4976-A196-B8A29E8B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2BE"/>
                </a:solidFill>
              </a:defRPr>
            </a:pPr>
            <a:r>
              <a:rPr sz="900" b="1">
                <a:solidFill>
                  <a:srgbClr val="A7B2BE"/>
                </a:solidFill>
              </a:rPr>
              <a:t>NVIDIA OpsGuard AI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88D2C1-C250-40BC-8B56-953838E4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2BE"/>
                </a:solidFill>
              </a:defRPr>
            </a:pPr>
            <a:r>
              <a:rPr sz="900" b="0">
                <a:solidFill>
                  <a:srgbClr val="A7B2BE"/>
                </a:solidFill>
              </a:rPr>
              <a:t>Steve Montgomerie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18612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1DA9CD-1248-4ADF-8393-93E7A425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35A"/>
                </a:solidFill>
              </a:defRPr>
            </a:pPr>
            <a:r>
              <a:rPr sz="1050" b="1">
                <a:solidFill>
                  <a:srgbClr val="B8F35A"/>
                </a:solidFill>
              </a:rPr>
              <a:t>GUARDRAILS AND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3DAF2-C93A-4C8D-8BB0-169837C5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Every proposed action meets a non-negotiable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30DEC-934F-4D05-A36D-CEA5F8A3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AD691-9F46-4D49-A140-0B3208A3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2BE"/>
                </a:solidFill>
              </a:defRPr>
            </a:pPr>
            <a:r>
              <a:rPr sz="1050" b="1">
                <a:solidFill>
                  <a:srgbClr val="A7B2BE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77F1C-EFB5-483F-A0E7-83BB92B8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4CA13-6EFE-42BA-A210-8AF3ECD3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Identity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83840-F736-4CEE-B4E4-05197AAE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2BE"/>
                </a:solidFill>
              </a:defRPr>
            </a:pPr>
            <a:r>
              <a:rPr sz="1275" b="0">
                <a:solidFill>
                  <a:srgbClr val="A7B2BE"/>
                </a:solidFill>
              </a:rPr>
              <a:t>Validate the requester and incident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19A9B-C29D-4438-913D-0A301815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BF153-E2AB-455B-8990-CF96A215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19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Trusted 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3CB67-0378-4393-9D7D-93D91B14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2BE"/>
                </a:solidFill>
              </a:defRPr>
            </a:pPr>
            <a:r>
              <a:rPr sz="1275" b="0">
                <a:solidFill>
                  <a:srgbClr val="A7B2BE"/>
                </a:solidFill>
              </a:rPr>
              <a:t>Reject poisoned or unapproved runbook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FA97B-6191-499D-B3A4-4EEDFD02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2AE03-C57E-4219-BA6E-77CB2988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19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Secret protection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0B0A9-D30C-4432-8F3B-8584C71B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2BE"/>
                </a:solidFill>
              </a:defRPr>
            </a:pPr>
            <a:r>
              <a:rPr sz="1275" b="0">
                <a:solidFill>
                  <a:srgbClr val="A7B2BE"/>
                </a:solidFill>
              </a:rPr>
              <a:t>Block credential and token exfiltration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3FFB2-7E13-46A6-93BF-A683E454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9E8"/>
          </a:solidFill>
          <a:ln xmlns:a="http://schemas.openxmlformats.org/drawingml/2006/main" w="0">
            <a:solidFill>
              <a:srgbClr val="27D9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02D68-FB8E-4C24-8B9D-DEA0EA28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Privilege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1CBD4-96E2-4F86-AD78-0E6807DA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2BE"/>
                </a:solidFill>
              </a:defRPr>
            </a:pPr>
            <a:r>
              <a:rPr sz="1275" b="0">
                <a:solidFill>
                  <a:srgbClr val="A7B2BE"/>
                </a:solidFill>
              </a:rPr>
              <a:t>Queue domain-admin, root and critical-service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D2C79-C495-4084-A165-31BA0EC1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195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9E8"/>
          </a:solidFill>
          <a:ln xmlns:a="http://schemas.openxmlformats.org/drawingml/2006/main" w="0">
            <a:solidFill>
              <a:srgbClr val="27D9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2DCFC-3AB6-4C4F-A3CE-35CDC675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No self-approval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64A4C-6B12-47C9-81C7-799395E5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672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2BE"/>
                </a:solidFill>
              </a:defRPr>
            </a:pPr>
            <a:r>
              <a:rPr sz="1275" b="0">
                <a:solidFill>
                  <a:srgbClr val="A7B2BE"/>
                </a:solidFill>
              </a:rPr>
              <a:t>Prompt text cannot bypass deterministic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88CD8-C7C2-48E9-9E0D-8D154D3F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195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9E8"/>
          </a:solidFill>
          <a:ln xmlns:a="http://schemas.openxmlformats.org/drawingml/2006/main" w="0">
            <a:solidFill>
              <a:srgbClr val="27D9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1D7F70-83BD-485C-9A47-2334310A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Auditability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F8942-1C8D-4617-BFCC-9771A436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672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2BE"/>
                </a:solidFill>
              </a:defRPr>
            </a:pPr>
            <a:r>
              <a:rPr sz="1275" b="0">
                <a:solidFill>
                  <a:srgbClr val="A7B2BE"/>
                </a:solidFill>
              </a:rPr>
              <a:t>Record evidence, recommendation, approval and 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4BA8C-8F5E-48FC-8FA9-8AA72662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05450"/>
            <a:ext cx="876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00B"/>
          </a:solidFill>
          <a:ln xmlns:a="http://schemas.openxmlformats.org/drawingml/2006/main" w="9525">
            <a:solidFill>
              <a:srgbClr val="76B9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9F6694-786F-48B0-A431-D77D0A4C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578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F35A"/>
                </a:solidFill>
              </a:defRPr>
            </a:pPr>
            <a:r>
              <a:rPr sz="1650" b="1">
                <a:solidFill>
                  <a:srgbClr val="B8F35A"/>
                </a:solidFill>
              </a:rPr>
              <a:t>MODEL OUTPUT ≠ PERMISSION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DB7CE7-201D-4F22-A28A-4BC13381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95B1AC-7283-4E82-B894-195B5344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2BE"/>
                </a:solidFill>
              </a:defRPr>
            </a:pPr>
            <a:r>
              <a:rPr sz="900" b="1">
                <a:solidFill>
                  <a:srgbClr val="A7B2BE"/>
                </a:solidFill>
              </a:rPr>
              <a:t>NVIDIA OpsGuard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F89D48-1604-4979-BF91-029AF6E9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2BE"/>
                </a:solidFill>
              </a:defRPr>
            </a:pPr>
            <a:r>
              <a:rPr sz="900" b="0">
                <a:solidFill>
                  <a:srgbClr val="A7B2BE"/>
                </a:solidFill>
              </a:rPr>
              <a:t>Steve Montgomerie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964028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135D1C-8497-434D-A665-93DEDB4B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35A"/>
                </a:solidFill>
              </a:defRPr>
            </a:pPr>
            <a:r>
              <a:rPr sz="1050" b="1">
                <a:solidFill>
                  <a:srgbClr val="B8F35A"/>
                </a:solidFill>
              </a:rPr>
              <a:t>LIVE DEMO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C601B-C7F4-4614-BD11-A658E851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</a:defRPr>
            </a:pPr>
            <a:r>
              <a:rPr sz="2850" b="1">
                <a:solidFill>
                  <a:srgbClr val="F5F7FA"/>
                </a:solidFill>
              </a:rPr>
              <a:t>The demo proves speed, restraint and traceability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BB2ED-2FAD-40D8-B5B1-7D2B489F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08F0A-B8A7-4294-B3D6-B862508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1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7B2BE"/>
                </a:solidFill>
              </a:defRPr>
            </a:pPr>
            <a:r>
              <a:rPr sz="1050" b="1">
                <a:solidFill>
                  <a:srgbClr val="A7B2BE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CA5C4-5CCF-43F6-A390-1B1DED80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F35A"/>
                </a:solidFill>
              </a:defRPr>
            </a:pPr>
            <a:r>
              <a:rPr sz="1200" b="1">
                <a:solidFill>
                  <a:srgbClr val="B8F35A"/>
                </a:solidFill>
              </a:rPr>
              <a:t>LIVE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F9BC5-3B20-4CC8-BB54-56C893BC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8A1FA-2F19-4831-B323-D522D3C1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0B12"/>
                </a:solidFill>
              </a:defRPr>
            </a:pPr>
            <a:r>
              <a:rPr sz="975" b="1">
                <a:solidFill>
                  <a:srgbClr val="050B12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C391D-0E60-40F1-958F-81B73514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Submit VPN incident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CC423-A3AF-427B-A938-451DE094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2504E-DB13-4AB9-8F63-5F019775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0B12"/>
                </a:solidFill>
              </a:defRPr>
            </a:pPr>
            <a:r>
              <a:rPr sz="975" b="1">
                <a:solidFill>
                  <a:srgbClr val="050B12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11F05-4FF4-4CD4-AD42-F76C0B31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Review gathered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185DA-A48E-4A6F-87B7-2D4D38B6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8C629-F2C7-485E-8CC0-F85EA73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0B12"/>
                </a:solidFill>
              </a:defRPr>
            </a:pPr>
            <a:r>
              <a:rPr sz="975" b="1">
                <a:solidFill>
                  <a:srgbClr val="050B12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51B8F-7A70-4A9B-8B8C-C769262D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Inspect retrieved runbook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52509-9EFD-4A76-A91E-3C3B279B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698B1-3C8F-491E-ACF0-95C0EDCB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0B12"/>
                </a:solidFill>
              </a:defRPr>
            </a:pPr>
            <a:r>
              <a:rPr sz="975" b="1">
                <a:solidFill>
                  <a:srgbClr val="050B12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88BB3-8990-439B-BAFB-676A2F77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Evaluate proposed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24EE4-0D40-4299-93BB-DFCC12BF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9E8"/>
          </a:solidFill>
          <a:ln xmlns:a="http://schemas.openxmlformats.org/drawingml/2006/main" w="0">
            <a:solidFill>
              <a:srgbClr val="27D9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A2B74-81A1-4E76-B67A-13E3896A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0B12"/>
                </a:solidFill>
              </a:defRPr>
            </a:pPr>
            <a:r>
              <a:rPr sz="975" b="1">
                <a:solidFill>
                  <a:srgbClr val="050B12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C5012-55EF-4943-8571-B49E1187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A"/>
                </a:solidFill>
              </a:defRPr>
            </a:pPr>
            <a:r>
              <a:rPr sz="1425" b="0">
                <a:solidFill>
                  <a:srgbClr val="F5F7FA"/>
                </a:solidFill>
              </a:rPr>
              <a:t>Approve or reject privilege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F2CC6-F89D-4289-8E4E-C200DBCF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9E8"/>
          </a:solidFill>
          <a:ln xmlns:a="http://schemas.openxmlformats.org/drawingml/2006/main" w="0">
            <a:solidFill>
              <a:srgbClr val="27D9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0E45B-138E-4C95-A903-3E691EEE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50B12"/>
                </a:solidFill>
              </a:defRPr>
            </a:pPr>
            <a:r>
              <a:rPr sz="975" b="1">
                <a:solidFill>
                  <a:srgbClr val="050B12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3A1B2-CF52-4F16-AAC1-49BAB4D7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7FA"/>
                </a:solidFill>
              </a:defRPr>
            </a:pPr>
            <a:r>
              <a:rPr sz="1425" b="1">
                <a:solidFill>
                  <a:srgbClr val="F5F7FA"/>
                </a:solidFill>
              </a:rPr>
              <a:t>Review audit trail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8F87F-A953-40F7-92CE-B80C2779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716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A45D21-F3B0-4EC4-8771-BF6382E6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D9E8"/>
                </a:solidFill>
              </a:defRPr>
            </a:pPr>
            <a:r>
              <a:rPr sz="1200" b="1">
                <a:solidFill>
                  <a:srgbClr val="27D9E8"/>
                </a:solidFill>
              </a:rPr>
              <a:t>WHAT TO VALIDATE NEXT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8A95C-5A71-4863-8BCD-B5B26714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87BBA-D242-4F68-8D22-DD94BD8D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Policy fit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6CB49-2228-4FC4-A3D4-9F6E16A4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Map organization-specific risk tiers and approval ownership.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C93DD2-D241-4211-AC23-5FB1097D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DC494D-2ECA-41FA-84AA-DE097740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Enterprise integration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14E3CF-331A-42DF-87FC-ACD77547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Connect identity, secrets, ITSM, observability and approved action tools.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26E2AE-0B52-449E-B956-6E3DE9C3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solidFill>
              <a:srgbClr val="76B9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200563-9F3F-460C-8179-D4E68B43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7FA"/>
                </a:solidFill>
              </a:defRPr>
            </a:pPr>
            <a:r>
              <a:rPr sz="1500" b="1">
                <a:solidFill>
                  <a:srgbClr val="F5F7FA"/>
                </a:solidFill>
              </a:rPr>
              <a:t>Operational readiness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0C79D1-2E3A-4F49-856E-2B6BCB7F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2BE"/>
                </a:solidFill>
              </a:defRPr>
            </a:pPr>
            <a:r>
              <a:rPr sz="1200" b="0">
                <a:solidFill>
                  <a:srgbClr val="A7B2BE"/>
                </a:solidFill>
              </a:rPr>
              <a:t>Add resilience, telemetry, evaluation and security review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47F373-5594-4A72-9824-BE9AE4C4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F35A"/>
                </a:solidFill>
              </a:defRPr>
            </a:pPr>
            <a:r>
              <a:rPr sz="1200" b="1">
                <a:solidFill>
                  <a:srgbClr val="B8F35A"/>
                </a:solidFill>
              </a:rPr>
              <a:t>Decision question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32C9E6-6DD8-4110-A20A-90283EBB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24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7FA"/>
                </a:solidFill>
              </a:defRPr>
            </a:pPr>
            <a:r>
              <a:rPr sz="1650" b="1">
                <a:solidFill>
                  <a:srgbClr val="F5F7FA"/>
                </a:solidFill>
              </a:rPr>
              <a:t>Which repetitive incident class offers the safest, highest-value first deployment?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906EA4-4763-4E9D-91A3-D78AD1E8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542"/>
          </a:solidFill>
          <a:ln xmlns:a="http://schemas.openxmlformats.org/drawingml/2006/main" w="0">
            <a:solidFill>
              <a:srgbClr val="22354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299D0C-E4B9-49FF-A2DC-2B5EB51E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B2BE"/>
                </a:solidFill>
              </a:defRPr>
            </a:pPr>
            <a:r>
              <a:rPr sz="900" b="1">
                <a:solidFill>
                  <a:srgbClr val="A7B2BE"/>
                </a:solidFill>
              </a:rPr>
              <a:t>NVIDIA OpsGuard AI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621736-9C9D-4058-B43B-D4E7336C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05575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2BE"/>
                </a:solidFill>
              </a:defRPr>
            </a:pPr>
            <a:r>
              <a:rPr sz="900" b="0">
                <a:solidFill>
                  <a:srgbClr val="A7B2BE"/>
                </a:solidFill>
              </a:rPr>
              <a:t>Steve Montgomerie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81059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2026-09-04T04:34:37.9380000Z</dcterms:created>
  <dcterms:modified xsi:type="dcterms:W3CDTF">2026-09-04T04:34:37.9390000Z</dcterms:modified>
</coreProperties>
</file>